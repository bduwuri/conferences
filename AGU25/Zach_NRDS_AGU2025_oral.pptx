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Play"/>
      <p:regular r:id="rId26"/>
      <p:bold r:id="rId27"/>
    </p:embeddedFont>
    <p:embeddedFont>
      <p:font typeface="Heebo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T6qIh3VPWg9IctYUXKB2YUJBT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y-regular.fntdata"/><Relationship Id="rId25" Type="http://schemas.openxmlformats.org/officeDocument/2006/relationships/slide" Target="slides/slide21.xml"/><Relationship Id="rId28" Type="http://schemas.openxmlformats.org/officeDocument/2006/relationships/font" Target="fonts/Heebo-regular.fntdata"/><Relationship Id="rId27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Heeb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0b615a6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b0b615a6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0b615a60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b0b615a608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0b615a60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b0b615a608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0b615a60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0b615a608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0b615a60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b0b615a608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0b615a60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b0b615a608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0b615a60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b0b615a608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0b615a60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b0b615a608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EAEA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hyperlink" Target="https://ciroh-community-ngen-datastream.s3.amazonaws.com/status/dashboard.html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datastream.ciroh.org/#v2.2/ngen.20251214/forcing_short_range/23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datastream.ciroh.org/#outputs/cfe_nom/v2.2_hydrofabric/ngen.20251214/short_range/23/VPU_10L/" TargetMode="External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gif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4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3962400" y="-1272567"/>
            <a:ext cx="9912350" cy="9395196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36600" y="609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073904" y="2322694"/>
            <a:ext cx="81407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NextGen Research DataStream (NRDS):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Community Contributions Towards Improved Hydrologic Predictions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573953" y="4903857"/>
            <a:ext cx="662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Lynker</a:t>
            </a:r>
            <a:r>
              <a:rPr lang="en-US" sz="20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: Jordan J. Laser, </a:t>
            </a:r>
            <a:r>
              <a:rPr b="1" lang="en-US" sz="2000">
                <a:solidFill>
                  <a:srgbClr val="143C64"/>
                </a:solidFill>
              </a:rPr>
              <a:t>Zachary Wills</a:t>
            </a:r>
            <a:r>
              <a:rPr lang="en-US" sz="20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, Nels Frazier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Alabama Water Institute:</a:t>
            </a:r>
            <a:r>
              <a:rPr lang="en-US" sz="20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 Arpita Patel, Sai Harsha Vemula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0" y="6530367"/>
            <a:ext cx="195277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0b615a608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98" name="Google Shape;98;g3b0b615a608_0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99" name="Google Shape;99;g3b0b615a60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2" cy="686276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b0b615a608_0_0"/>
          <p:cNvSpPr/>
          <p:nvPr/>
        </p:nvSpPr>
        <p:spPr>
          <a:xfrm>
            <a:off x="3962400" y="-1272567"/>
            <a:ext cx="9912300" cy="9395100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b0b615a608_0_0"/>
          <p:cNvSpPr txBox="1"/>
          <p:nvPr/>
        </p:nvSpPr>
        <p:spPr>
          <a:xfrm>
            <a:off x="736600" y="60960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b0b615a608_0_0"/>
          <p:cNvSpPr txBox="1"/>
          <p:nvPr/>
        </p:nvSpPr>
        <p:spPr>
          <a:xfrm>
            <a:off x="4073904" y="2322694"/>
            <a:ext cx="8140800" cy="21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161516"/>
                </a:solidFill>
              </a:rPr>
              <a:t>"This research utilized AWS resources managed by CIROH Cyberinfrastructure,</a:t>
            </a:r>
            <a:endParaRPr sz="1650">
              <a:solidFill>
                <a:srgbClr val="16151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161516"/>
                </a:solidFill>
              </a:rPr>
              <a:t>supported by </a:t>
            </a:r>
            <a:r>
              <a:rPr lang="en-US" sz="1600">
                <a:solidFill>
                  <a:srgbClr val="343736"/>
                </a:solidFill>
              </a:rPr>
              <a:t>the Cooperative Institute for Research to Operations in Hydrology (CIROH) with</a:t>
            </a:r>
            <a:endParaRPr sz="1600">
              <a:solidFill>
                <a:srgbClr val="34373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343736"/>
                </a:solidFill>
              </a:rPr>
              <a:t>funding under award NA22NWS4320003 from the NOAA Cooperative Institute Program</a:t>
            </a:r>
            <a:r>
              <a:rPr lang="en-US" sz="1650">
                <a:solidFill>
                  <a:srgbClr val="161516"/>
                </a:solidFill>
              </a:rPr>
              <a:t>. The</a:t>
            </a:r>
            <a:endParaRPr sz="1650">
              <a:solidFill>
                <a:srgbClr val="16151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161516"/>
                </a:solidFill>
              </a:rPr>
              <a:t>authors appreciate support from the CIROH Cyberinfrastructure team. Learn more:</a:t>
            </a:r>
            <a:endParaRPr sz="1650">
              <a:solidFill>
                <a:srgbClr val="16151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50">
                <a:solidFill>
                  <a:srgbClr val="103CC0"/>
                </a:solidFill>
              </a:rPr>
              <a:t>https://docs.ciroh.org/docs/services/intro</a:t>
            </a:r>
            <a:r>
              <a:rPr lang="en-US" sz="1650">
                <a:solidFill>
                  <a:srgbClr val="161516"/>
                </a:solidFill>
              </a:rPr>
              <a:t>"</a:t>
            </a:r>
            <a:endParaRPr sz="4400">
              <a:solidFill>
                <a:srgbClr val="143C64"/>
              </a:solidFill>
            </a:endParaRPr>
          </a:p>
        </p:txBody>
      </p:sp>
      <p:sp>
        <p:nvSpPr>
          <p:cNvPr id="103" name="Google Shape;103;g3b0b615a608_0_0"/>
          <p:cNvSpPr txBox="1"/>
          <p:nvPr/>
        </p:nvSpPr>
        <p:spPr>
          <a:xfrm>
            <a:off x="0" y="6530367"/>
            <a:ext cx="19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g3b0b615a60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0b615a608_0_8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10" name="Google Shape;110;g3b0b615a608_0_88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111" name="Google Shape;111;g3b0b615a608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2" cy="686276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b0b615a608_0_88"/>
          <p:cNvSpPr/>
          <p:nvPr/>
        </p:nvSpPr>
        <p:spPr>
          <a:xfrm>
            <a:off x="3962400" y="-1272567"/>
            <a:ext cx="9912300" cy="9395100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43C64"/>
                </a:solidFill>
              </a:rPr>
              <a:t>Big thanks to Jordan Laser,</a:t>
            </a:r>
            <a:endParaRPr sz="3600">
              <a:solidFill>
                <a:srgbClr val="143C6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43C64"/>
                </a:solidFill>
              </a:rPr>
              <a:t>this is mostly his presentation.</a:t>
            </a:r>
            <a:endParaRPr sz="3600">
              <a:solidFill>
                <a:srgbClr val="143C6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43C64"/>
                </a:solidFill>
              </a:rPr>
              <a:t>I’ve just thrown some fun sprinkles on top.  </a:t>
            </a:r>
            <a:endParaRPr sz="3600">
              <a:solidFill>
                <a:srgbClr val="143C64"/>
              </a:solidFill>
            </a:endParaRPr>
          </a:p>
        </p:txBody>
      </p:sp>
      <p:sp>
        <p:nvSpPr>
          <p:cNvPr id="113" name="Google Shape;113;g3b0b615a608_0_88"/>
          <p:cNvSpPr txBox="1"/>
          <p:nvPr/>
        </p:nvSpPr>
        <p:spPr>
          <a:xfrm>
            <a:off x="736600" y="60960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b0b615a608_0_88"/>
          <p:cNvSpPr txBox="1"/>
          <p:nvPr/>
        </p:nvSpPr>
        <p:spPr>
          <a:xfrm>
            <a:off x="0" y="6530367"/>
            <a:ext cx="19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g3b0b615a608_0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21" name="Google Shape;121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122" name="Google Shape;1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4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/>
          <p:nvPr/>
        </p:nvSpPr>
        <p:spPr>
          <a:xfrm>
            <a:off x="3962400" y="-1272567"/>
            <a:ext cx="9912350" cy="9395196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736600" y="609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5303018" y="609600"/>
            <a:ext cx="69988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Road Map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0" y="6530367"/>
            <a:ext cx="195277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3962400" y="2610700"/>
            <a:ext cx="72237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NRDS motivation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NRDS design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NRDS State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DatastreamCLI</a:t>
            </a:r>
            <a:endParaRPr sz="2800">
              <a:solidFill>
                <a:schemeClr val="dk1"/>
              </a:solidFill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for the NRDS</a:t>
            </a:r>
            <a:endParaRPr/>
          </a:p>
        </p:txBody>
      </p:sp>
      <p:pic>
        <p:nvPicPr>
          <p:cNvPr id="128" name="Google Shape;12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135" name="Google Shape;13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4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/>
          <p:nvPr/>
        </p:nvSpPr>
        <p:spPr>
          <a:xfrm>
            <a:off x="3962400" y="-1272567"/>
            <a:ext cx="9912350" cy="9395196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736600" y="609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5381395" y="491550"/>
            <a:ext cx="69988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NRDS Motivation 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0" y="6530367"/>
            <a:ext cx="195277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2244166" y="1332294"/>
            <a:ext cx="3827982" cy="1195109"/>
          </a:xfrm>
          <a:prstGeom prst="rect">
            <a:avLst/>
          </a:prstGeom>
          <a:solidFill>
            <a:srgbClr val="1F5C99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Need for regionalized parameterization and modeling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2268018" y="3360856"/>
            <a:ext cx="3827982" cy="482364"/>
          </a:xfrm>
          <a:prstGeom prst="rect">
            <a:avLst/>
          </a:prstGeom>
          <a:solidFill>
            <a:srgbClr val="1F5C99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High on-premise cost of HPC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2226704" y="4629151"/>
            <a:ext cx="3827982" cy="1001327"/>
          </a:xfrm>
          <a:prstGeom prst="rect">
            <a:avLst/>
          </a:prstGeom>
          <a:solidFill>
            <a:srgbClr val="1F5C99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Research 2 Operations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7468102" y="1332293"/>
            <a:ext cx="4453970" cy="1195109"/>
          </a:xfrm>
          <a:prstGeom prst="rect">
            <a:avLst/>
          </a:prstGeom>
          <a:solidFill>
            <a:srgbClr val="3A7D2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Within the NextGen Framework, models and parameters can be configured at any scale, even for each catchment.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7468102" y="2629201"/>
            <a:ext cx="4453971" cy="1982999"/>
          </a:xfrm>
          <a:prstGeom prst="rect">
            <a:avLst/>
          </a:prstGeom>
          <a:solidFill>
            <a:srgbClr val="3A7D2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Cloud providers offer a cost-effective alternative to purchasing and maintaining expensive on-premise hardware.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Research DataStream is written in Terraform and made publicly available.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7468102" y="4704274"/>
            <a:ext cx="4453972" cy="1662176"/>
          </a:xfrm>
          <a:prstGeom prst="rect">
            <a:avLst/>
          </a:prstGeom>
          <a:solidFill>
            <a:srgbClr val="3A7D2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Research DataStream is open to community contributions.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 evaluation workflow is under development to ensure continued improvement of the system.</a:t>
            </a:r>
            <a:endParaRPr/>
          </a:p>
        </p:txBody>
      </p:sp>
      <p:cxnSp>
        <p:nvCxnSpPr>
          <p:cNvPr id="146" name="Google Shape;146;p3"/>
          <p:cNvCxnSpPr>
            <a:stCxn id="140" idx="3"/>
            <a:endCxn id="143" idx="1"/>
          </p:cNvCxnSpPr>
          <p:nvPr/>
        </p:nvCxnSpPr>
        <p:spPr>
          <a:xfrm>
            <a:off x="6072148" y="1929849"/>
            <a:ext cx="1395900" cy="0"/>
          </a:xfrm>
          <a:prstGeom prst="straightConnector1">
            <a:avLst/>
          </a:prstGeom>
          <a:noFill/>
          <a:ln cap="flat" cmpd="sng" w="76200">
            <a:solidFill>
              <a:srgbClr val="78206E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7" name="Google Shape;147;p3"/>
          <p:cNvCxnSpPr>
            <a:stCxn id="141" idx="3"/>
            <a:endCxn id="144" idx="1"/>
          </p:cNvCxnSpPr>
          <p:nvPr/>
        </p:nvCxnSpPr>
        <p:spPr>
          <a:xfrm>
            <a:off x="6096000" y="3602038"/>
            <a:ext cx="1372200" cy="18600"/>
          </a:xfrm>
          <a:prstGeom prst="straightConnector1">
            <a:avLst/>
          </a:prstGeom>
          <a:noFill/>
          <a:ln cap="flat" cmpd="sng" w="76200">
            <a:solidFill>
              <a:srgbClr val="78206E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8" name="Google Shape;148;p3"/>
          <p:cNvCxnSpPr/>
          <p:nvPr/>
        </p:nvCxnSpPr>
        <p:spPr>
          <a:xfrm>
            <a:off x="6063418" y="5120399"/>
            <a:ext cx="1395952" cy="0"/>
          </a:xfrm>
          <a:prstGeom prst="straightConnector1">
            <a:avLst/>
          </a:prstGeom>
          <a:noFill/>
          <a:ln cap="flat" cmpd="sng" w="76200">
            <a:solidFill>
              <a:srgbClr val="78206E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49" name="Google Shape;14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Water</a:t>
            </a:r>
            <a:endParaRPr/>
          </a:p>
        </p:txBody>
      </p:sp>
      <p:sp>
        <p:nvSpPr>
          <p:cNvPr id="155" name="Google Shape;155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156" name="Google Shape;1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4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/>
          <p:nvPr/>
        </p:nvSpPr>
        <p:spPr>
          <a:xfrm>
            <a:off x="3962400" y="-1272567"/>
            <a:ext cx="9912350" cy="9395196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736600" y="609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0" y="6530367"/>
            <a:ext cx="195277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4930162" y="2056686"/>
            <a:ext cx="7554368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CONUS wide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Distributed processing by Vector Processing Unit (VPU)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Regional hydrologic processes map to compute resources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Outputs are delineated by VPU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Mimic NWM forecast cycles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 range (18 hourly time steps) 24 times per day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ensemble medium range  (240 hourly time steps) 4 times per day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 assim extend (28 hourly time steps) 1 per day</a:t>
            </a:r>
            <a:endParaRPr/>
          </a:p>
          <a:p>
            <a:pPr indent="-1714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Publicly available and editable NextGen configuration files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Automated evaluation drives improvement(in development).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Contributions accompanied by automated workflows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5419145" y="317212"/>
            <a:ext cx="69988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NRDS Design: Forecast Configuration</a:t>
            </a:r>
            <a:endParaRPr sz="20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Water</a:t>
            </a:r>
            <a:endParaRPr/>
          </a:p>
        </p:txBody>
      </p:sp>
      <p:sp>
        <p:nvSpPr>
          <p:cNvPr id="168" name="Google Shape;168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169" name="Google Shape;1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4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/>
          <p:nvPr/>
        </p:nvSpPr>
        <p:spPr>
          <a:xfrm>
            <a:off x="3962400" y="-1272567"/>
            <a:ext cx="9912350" cy="9395196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736600" y="609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0" y="6530367"/>
            <a:ext cx="195277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4734453" y="1820710"/>
            <a:ext cx="70329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VPUs available : 02, 03N, 03S, 03W, 04, 05, 06, 08, 09, 10L, 10U, 11, 12, 13, 14, 15, 16, 18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sng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(05, 10L, 10U, 11 not available for medium range)</a:t>
            </a:r>
            <a:endParaRPr b="0" i="0" sz="1800" u="none" cap="none" strike="sng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Complete!</a:t>
            </a:r>
            <a:endParaRPr sz="1800">
              <a:solidFill>
                <a:schemeClr val="dk1"/>
              </a:solidFill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Types –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 range (all initialization cycles),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medium range (all cycles, 1st member),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 assim extend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Cold start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NextGen configuration - NOAH-OWP, PET, CFE, and troute.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Dynamically read on each execution from publicly available realizations that now hold mutable community parameters.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5419145" y="532345"/>
            <a:ext cx="69988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NRDS Design: Current State</a:t>
            </a:r>
            <a:endParaRPr sz="20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0b615a608_0_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Water</a:t>
            </a:r>
            <a:endParaRPr/>
          </a:p>
        </p:txBody>
      </p:sp>
      <p:sp>
        <p:nvSpPr>
          <p:cNvPr id="181" name="Google Shape;181;g3b0b615a608_0_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182" name="Google Shape;182;g3b0b615a608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2" cy="686276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b0b615a608_0_13"/>
          <p:cNvSpPr/>
          <p:nvPr/>
        </p:nvSpPr>
        <p:spPr>
          <a:xfrm>
            <a:off x="3962400" y="-1272567"/>
            <a:ext cx="9912300" cy="9395100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b0b615a608_0_13"/>
          <p:cNvSpPr txBox="1"/>
          <p:nvPr/>
        </p:nvSpPr>
        <p:spPr>
          <a:xfrm>
            <a:off x="736600" y="60960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b0b615a608_0_13"/>
          <p:cNvSpPr txBox="1"/>
          <p:nvPr/>
        </p:nvSpPr>
        <p:spPr>
          <a:xfrm>
            <a:off x="0" y="6530367"/>
            <a:ext cx="19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b0b615a608_0_13"/>
          <p:cNvSpPr txBox="1"/>
          <p:nvPr/>
        </p:nvSpPr>
        <p:spPr>
          <a:xfrm>
            <a:off x="4268350" y="532350"/>
            <a:ext cx="79239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NRDS </a:t>
            </a:r>
            <a:r>
              <a:rPr lang="en-US" sz="3200">
                <a:solidFill>
                  <a:srgbClr val="143C64"/>
                </a:solidFill>
              </a:rPr>
              <a:t>Status</a:t>
            </a:r>
            <a:endParaRPr sz="3200">
              <a:solidFill>
                <a:srgbClr val="143C6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143C6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u="sng">
                <a:solidFill>
                  <a:schemeClr val="hlink"/>
                </a:solidFill>
                <a:hlinkClick r:id="rId4"/>
              </a:rPr>
              <a:t>https://ciroh-community-ngen-datastream.s3.amazonaws.com/status/dashboard.html</a:t>
            </a:r>
            <a:endParaRPr sz="4400">
              <a:solidFill>
                <a:srgbClr val="143C64"/>
              </a:solidFill>
            </a:endParaRPr>
          </a:p>
        </p:txBody>
      </p:sp>
      <p:pic>
        <p:nvPicPr>
          <p:cNvPr id="187" name="Google Shape;187;g3b0b615a608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b0b615a608_0_13" title="Screenshot 2025-12-15 at 11.21.3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8350" y="2835367"/>
            <a:ext cx="7789527" cy="2206010"/>
          </a:xfrm>
          <a:prstGeom prst="rect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0b615a608_0_2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Water</a:t>
            </a:r>
            <a:endParaRPr/>
          </a:p>
        </p:txBody>
      </p:sp>
      <p:sp>
        <p:nvSpPr>
          <p:cNvPr id="194" name="Google Shape;194;g3b0b615a608_0_28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195" name="Google Shape;195;g3b0b615a608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2" cy="686276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b0b615a608_0_28"/>
          <p:cNvSpPr/>
          <p:nvPr/>
        </p:nvSpPr>
        <p:spPr>
          <a:xfrm>
            <a:off x="3962400" y="-1272567"/>
            <a:ext cx="9912300" cy="9395100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b0b615a608_0_28"/>
          <p:cNvSpPr txBox="1"/>
          <p:nvPr/>
        </p:nvSpPr>
        <p:spPr>
          <a:xfrm>
            <a:off x="736600" y="60960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b0b615a608_0_28"/>
          <p:cNvSpPr txBox="1"/>
          <p:nvPr/>
        </p:nvSpPr>
        <p:spPr>
          <a:xfrm>
            <a:off x="0" y="6530367"/>
            <a:ext cx="19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b0b615a608_0_28"/>
          <p:cNvSpPr txBox="1"/>
          <p:nvPr/>
        </p:nvSpPr>
        <p:spPr>
          <a:xfrm>
            <a:off x="4268350" y="532350"/>
            <a:ext cx="7923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NRDS </a:t>
            </a:r>
            <a:endParaRPr sz="32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</a:rPr>
              <a:t>Forcings Available</a:t>
            </a:r>
            <a:endParaRPr sz="4400">
              <a:solidFill>
                <a:srgbClr val="143C64"/>
              </a:solidFill>
            </a:endParaRPr>
          </a:p>
        </p:txBody>
      </p:sp>
      <p:pic>
        <p:nvPicPr>
          <p:cNvPr id="200" name="Google Shape;200;g3b0b615a608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b0b615a608_0_28" title="Screenshot 2025-12-15 at 11.29.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3850" y="2143529"/>
            <a:ext cx="7998152" cy="2483796"/>
          </a:xfrm>
          <a:prstGeom prst="rect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</p:pic>
      <p:sp>
        <p:nvSpPr>
          <p:cNvPr id="202" name="Google Shape;202;g3b0b615a608_0_28"/>
          <p:cNvSpPr txBox="1"/>
          <p:nvPr/>
        </p:nvSpPr>
        <p:spPr>
          <a:xfrm>
            <a:off x="4268350" y="4840475"/>
            <a:ext cx="792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u="sng">
                <a:solidFill>
                  <a:schemeClr val="hlink"/>
                </a:solidFill>
                <a:hlinkClick r:id="rId6"/>
              </a:rPr>
              <a:t>https://datastream.ciroh.org/#v2.2/ngen.20251214/forcing_short_range/23/</a:t>
            </a:r>
            <a:endParaRPr sz="6000">
              <a:solidFill>
                <a:srgbClr val="143C6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0b615a608_0_4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Water</a:t>
            </a:r>
            <a:endParaRPr/>
          </a:p>
        </p:txBody>
      </p:sp>
      <p:sp>
        <p:nvSpPr>
          <p:cNvPr id="208" name="Google Shape;208;g3b0b615a608_0_4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209" name="Google Shape;209;g3b0b615a608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2" cy="686276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b0b615a608_0_43"/>
          <p:cNvSpPr/>
          <p:nvPr/>
        </p:nvSpPr>
        <p:spPr>
          <a:xfrm>
            <a:off x="3962400" y="-1272567"/>
            <a:ext cx="9912300" cy="9395100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b0b615a608_0_43"/>
          <p:cNvSpPr txBox="1"/>
          <p:nvPr/>
        </p:nvSpPr>
        <p:spPr>
          <a:xfrm>
            <a:off x="736600" y="60960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b0b615a608_0_43"/>
          <p:cNvSpPr txBox="1"/>
          <p:nvPr/>
        </p:nvSpPr>
        <p:spPr>
          <a:xfrm>
            <a:off x="0" y="6530367"/>
            <a:ext cx="19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b0b615a608_0_43"/>
          <p:cNvSpPr txBox="1"/>
          <p:nvPr/>
        </p:nvSpPr>
        <p:spPr>
          <a:xfrm>
            <a:off x="4268350" y="532350"/>
            <a:ext cx="7923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NRDS </a:t>
            </a:r>
            <a:endParaRPr sz="32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</a:rPr>
              <a:t>Configurations, Parameters, and Outputs</a:t>
            </a:r>
            <a:r>
              <a:rPr lang="en-US" sz="3200">
                <a:solidFill>
                  <a:srgbClr val="143C64"/>
                </a:solidFill>
              </a:rPr>
              <a:t> Available</a:t>
            </a:r>
            <a:endParaRPr sz="4400">
              <a:solidFill>
                <a:srgbClr val="143C64"/>
              </a:solidFill>
            </a:endParaRPr>
          </a:p>
        </p:txBody>
      </p:sp>
      <p:pic>
        <p:nvPicPr>
          <p:cNvPr id="214" name="Google Shape;214;g3b0b615a608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b0b615a608_0_43"/>
          <p:cNvSpPr txBox="1"/>
          <p:nvPr/>
        </p:nvSpPr>
        <p:spPr>
          <a:xfrm>
            <a:off x="4268350" y="4840475"/>
            <a:ext cx="792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hlink"/>
                </a:solidFill>
                <a:hlinkClick r:id="rId5"/>
              </a:rPr>
              <a:t>https://datastream.ciroh.org/#outputs/cfe_nom/v2.2_hydrofabric/ngen.20251214/short_range/23/VPU_10L/</a:t>
            </a:r>
            <a:endParaRPr sz="6600">
              <a:solidFill>
                <a:srgbClr val="143C64"/>
              </a:solidFill>
            </a:endParaRPr>
          </a:p>
        </p:txBody>
      </p:sp>
      <p:pic>
        <p:nvPicPr>
          <p:cNvPr id="216" name="Google Shape;216;g3b0b615a608_0_43" title="Screenshot 2025-12-15 at 11.31.5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2625" y="2378100"/>
            <a:ext cx="8099374" cy="1960976"/>
          </a:xfrm>
          <a:prstGeom prst="rect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0b615a608_0_5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Water</a:t>
            </a:r>
            <a:endParaRPr/>
          </a:p>
        </p:txBody>
      </p:sp>
      <p:sp>
        <p:nvSpPr>
          <p:cNvPr id="222" name="Google Shape;222;g3b0b615a608_0_58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223" name="Google Shape;223;g3b0b615a608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2" cy="686276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b0b615a608_0_58"/>
          <p:cNvSpPr/>
          <p:nvPr/>
        </p:nvSpPr>
        <p:spPr>
          <a:xfrm>
            <a:off x="3962400" y="-1272567"/>
            <a:ext cx="9912300" cy="9395100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b0b615a608_0_58"/>
          <p:cNvSpPr txBox="1"/>
          <p:nvPr/>
        </p:nvSpPr>
        <p:spPr>
          <a:xfrm>
            <a:off x="736600" y="60960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b0b615a608_0_58"/>
          <p:cNvSpPr txBox="1"/>
          <p:nvPr/>
        </p:nvSpPr>
        <p:spPr>
          <a:xfrm>
            <a:off x="0" y="6530367"/>
            <a:ext cx="19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b0b615a608_0_58"/>
          <p:cNvSpPr txBox="1"/>
          <p:nvPr/>
        </p:nvSpPr>
        <p:spPr>
          <a:xfrm>
            <a:off x="4448425" y="446550"/>
            <a:ext cx="7803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NRDS </a:t>
            </a:r>
            <a:endParaRPr sz="32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</a:rPr>
              <a:t>Completely R</a:t>
            </a:r>
            <a:r>
              <a:rPr lang="en-US" sz="3200">
                <a:solidFill>
                  <a:srgbClr val="143C64"/>
                </a:solidFill>
              </a:rPr>
              <a:t>eproducible, with Benchmark</a:t>
            </a:r>
            <a:endParaRPr sz="4400">
              <a:solidFill>
                <a:srgbClr val="143C64"/>
              </a:solidFill>
            </a:endParaRPr>
          </a:p>
        </p:txBody>
      </p:sp>
      <p:pic>
        <p:nvPicPr>
          <p:cNvPr id="228" name="Google Shape;228;g3b0b615a608_0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b0b615a608_0_58"/>
          <p:cNvSpPr txBox="1"/>
          <p:nvPr/>
        </p:nvSpPr>
        <p:spPr>
          <a:xfrm>
            <a:off x="4268350" y="4840475"/>
            <a:ext cx="792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0">
              <a:solidFill>
                <a:srgbClr val="143C64"/>
              </a:solidFill>
            </a:endParaRPr>
          </a:p>
        </p:txBody>
      </p:sp>
      <p:pic>
        <p:nvPicPr>
          <p:cNvPr id="230" name="Google Shape;230;g3b0b615a608_0_58" title="Screenshot 2025-12-15 at 11.36.1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8371" y="2016438"/>
            <a:ext cx="7803853" cy="310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7" title="Screenshot 2025-12-15 at 11.39.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4675" y="0"/>
            <a:ext cx="9487324" cy="5572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 txBox="1"/>
          <p:nvPr/>
        </p:nvSpPr>
        <p:spPr>
          <a:xfrm>
            <a:off x="18775" y="44400"/>
            <a:ext cx="2685900" cy="55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All metadata to recreate all AWS runs also works locally with the same commands using DatastreamCLI.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g3b0b615a608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b0b615a608_0_99" title="Screenshot 2025-12-15 at 11.39.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4675" y="80625"/>
            <a:ext cx="9487324" cy="557287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b0b615a608_0_99"/>
          <p:cNvSpPr txBox="1"/>
          <p:nvPr/>
        </p:nvSpPr>
        <p:spPr>
          <a:xfrm>
            <a:off x="18775" y="44400"/>
            <a:ext cx="2685900" cy="55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All metadata to recreate all AWS runs also works locally with the same commands using DatastreamCLI.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 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245" name="Google Shape;245;g3b0b615a608_0_99" title="Screenshot 2025-12-15 at 12.23.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725" y="2797575"/>
            <a:ext cx="2469987" cy="285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3b0b615a608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b0b615a608_0_72"/>
          <p:cNvSpPr/>
          <p:nvPr/>
        </p:nvSpPr>
        <p:spPr>
          <a:xfrm>
            <a:off x="1130536" y="1146762"/>
            <a:ext cx="3828000" cy="1195200"/>
          </a:xfrm>
          <a:prstGeom prst="rect">
            <a:avLst/>
          </a:prstGeom>
          <a:solidFill>
            <a:srgbClr val="1F5C99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Workflow that abstracts the laborious process of collecting input data and executing NextGen </a:t>
            </a:r>
            <a:endParaRPr/>
          </a:p>
        </p:txBody>
      </p:sp>
      <p:sp>
        <p:nvSpPr>
          <p:cNvPr id="252" name="Google Shape;252;g3b0b615a608_0_72"/>
          <p:cNvSpPr/>
          <p:nvPr/>
        </p:nvSpPr>
        <p:spPr>
          <a:xfrm>
            <a:off x="1163118" y="2894012"/>
            <a:ext cx="3828000" cy="482400"/>
          </a:xfrm>
          <a:prstGeom prst="rect">
            <a:avLst/>
          </a:prstGeom>
          <a:solidFill>
            <a:srgbClr val="1F5C99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Reproducibility</a:t>
            </a:r>
            <a:endParaRPr/>
          </a:p>
        </p:txBody>
      </p:sp>
      <p:sp>
        <p:nvSpPr>
          <p:cNvPr id="253" name="Google Shape;253;g3b0b615a608_0_72"/>
          <p:cNvSpPr/>
          <p:nvPr/>
        </p:nvSpPr>
        <p:spPr>
          <a:xfrm>
            <a:off x="1130536" y="3919098"/>
            <a:ext cx="3828000" cy="1356000"/>
          </a:xfrm>
          <a:prstGeom prst="rect">
            <a:avLst/>
          </a:prstGeom>
          <a:solidFill>
            <a:srgbClr val="1F5C99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Need baseline NextGen dataset to evaluate new realizations against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Scaling from laptop to HPC</a:t>
            </a:r>
            <a:endParaRPr/>
          </a:p>
        </p:txBody>
      </p:sp>
      <p:sp>
        <p:nvSpPr>
          <p:cNvPr id="254" name="Google Shape;254;g3b0b615a608_0_72"/>
          <p:cNvSpPr/>
          <p:nvPr/>
        </p:nvSpPr>
        <p:spPr>
          <a:xfrm>
            <a:off x="6363202" y="734462"/>
            <a:ext cx="4454100" cy="1364400"/>
          </a:xfrm>
          <a:prstGeom prst="rect">
            <a:avLst/>
          </a:prstGeom>
          <a:solidFill>
            <a:srgbClr val="3A7D2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DataStreamCLI will perform every step required in executing NextGen. The user can compute steps separately and provide those files directly.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*Batteries included but flexible*</a:t>
            </a:r>
            <a:endParaRPr/>
          </a:p>
        </p:txBody>
      </p:sp>
      <p:sp>
        <p:nvSpPr>
          <p:cNvPr id="255" name="Google Shape;255;g3b0b615a608_0_72"/>
          <p:cNvSpPr/>
          <p:nvPr/>
        </p:nvSpPr>
        <p:spPr>
          <a:xfrm>
            <a:off x="6363202" y="2244831"/>
            <a:ext cx="4454100" cy="2106900"/>
          </a:xfrm>
          <a:prstGeom prst="rect">
            <a:avLst/>
          </a:prstGeom>
          <a:solidFill>
            <a:srgbClr val="3A7D2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DataStreamCLI established the NextGen In A Box standard run directory. 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Metadata – all relevant information about user inputs, code versions, host architecture, etc. so that a NextGen execution can be understood and reproduced.</a:t>
            </a:r>
            <a:endParaRPr/>
          </a:p>
        </p:txBody>
      </p:sp>
      <p:sp>
        <p:nvSpPr>
          <p:cNvPr id="256" name="Google Shape;256;g3b0b615a608_0_72"/>
          <p:cNvSpPr/>
          <p:nvPr/>
        </p:nvSpPr>
        <p:spPr>
          <a:xfrm>
            <a:off x="6363202" y="4437005"/>
            <a:ext cx="4454100" cy="1356000"/>
          </a:xfrm>
          <a:prstGeom prst="rect">
            <a:avLst/>
          </a:prstGeom>
          <a:solidFill>
            <a:srgbClr val="3A7D2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DataStreamCLI can scale from a laptop to the cloud. DataStreamCLI performs the on-server workflow that drives the NextGen Research DataStream.</a:t>
            </a:r>
            <a:endParaRPr/>
          </a:p>
        </p:txBody>
      </p:sp>
      <p:cxnSp>
        <p:nvCxnSpPr>
          <p:cNvPr id="257" name="Google Shape;257;g3b0b615a608_0_72"/>
          <p:cNvCxnSpPr>
            <a:stCxn id="251" idx="3"/>
            <a:endCxn id="254" idx="1"/>
          </p:cNvCxnSpPr>
          <p:nvPr/>
        </p:nvCxnSpPr>
        <p:spPr>
          <a:xfrm flipH="1" rot="10800000">
            <a:off x="4958536" y="1416762"/>
            <a:ext cx="1404600" cy="327600"/>
          </a:xfrm>
          <a:prstGeom prst="straightConnector1">
            <a:avLst/>
          </a:prstGeom>
          <a:noFill/>
          <a:ln cap="flat" cmpd="sng" w="76200">
            <a:solidFill>
              <a:srgbClr val="78206E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8" name="Google Shape;258;g3b0b615a608_0_72"/>
          <p:cNvCxnSpPr>
            <a:stCxn id="252" idx="3"/>
            <a:endCxn id="255" idx="1"/>
          </p:cNvCxnSpPr>
          <p:nvPr/>
        </p:nvCxnSpPr>
        <p:spPr>
          <a:xfrm>
            <a:off x="4991118" y="3135212"/>
            <a:ext cx="1372200" cy="163200"/>
          </a:xfrm>
          <a:prstGeom prst="straightConnector1">
            <a:avLst/>
          </a:prstGeom>
          <a:noFill/>
          <a:ln cap="flat" cmpd="sng" w="76200">
            <a:solidFill>
              <a:srgbClr val="78206E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9" name="Google Shape;259;g3b0b615a608_0_72"/>
          <p:cNvCxnSpPr>
            <a:stCxn id="253" idx="3"/>
            <a:endCxn id="256" idx="1"/>
          </p:cNvCxnSpPr>
          <p:nvPr/>
        </p:nvCxnSpPr>
        <p:spPr>
          <a:xfrm>
            <a:off x="4958536" y="4597098"/>
            <a:ext cx="1404600" cy="517800"/>
          </a:xfrm>
          <a:prstGeom prst="straightConnector1">
            <a:avLst/>
          </a:prstGeom>
          <a:noFill/>
          <a:ln cap="flat" cmpd="sng" w="76200">
            <a:solidFill>
              <a:srgbClr val="78206E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0" name="Google Shape;260;g3b0b615a608_0_72"/>
          <p:cNvSpPr txBox="1"/>
          <p:nvPr/>
        </p:nvSpPr>
        <p:spPr>
          <a:xfrm>
            <a:off x="390525" y="238125"/>
            <a:ext cx="424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DataStreamCLI Motivation</a:t>
            </a:r>
            <a:endParaRPr u="sn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Water</a:t>
            </a:r>
            <a:endParaRPr/>
          </a:p>
        </p:txBody>
      </p:sp>
      <p:sp>
        <p:nvSpPr>
          <p:cNvPr id="266" name="Google Shape;266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267" name="Google Shape;2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4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6"/>
          <p:cNvSpPr/>
          <p:nvPr/>
        </p:nvSpPr>
        <p:spPr>
          <a:xfrm>
            <a:off x="3962400" y="-1272567"/>
            <a:ext cx="9912350" cy="9395196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736600" y="609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0" y="6530367"/>
            <a:ext cx="195277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4456835" y="901987"/>
            <a:ext cx="8220786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Orchestration - accomplished via AWS State Machine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Scheduling - accomplished via AWS Event Bridge Schedules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On-server workflow – DataStreamCLI, NGIAB, and forcingprocessor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5419145" y="317212"/>
            <a:ext cx="69988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NRDS Design: AWS Infrastructure</a:t>
            </a:r>
            <a:endParaRPr sz="20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project&#10;&#10;Description automatically generated" id="274" name="Google Shape;274;p6"/>
          <p:cNvPicPr preferRelativeResize="0"/>
          <p:nvPr/>
        </p:nvPicPr>
        <p:blipFill rotWithShape="1">
          <a:blip r:embed="rId5">
            <a:alphaModFix/>
          </a:blip>
          <a:srcRect b="0" l="0" r="0" t="7856"/>
          <a:stretch/>
        </p:blipFill>
        <p:spPr>
          <a:xfrm>
            <a:off x="3683727" y="2177902"/>
            <a:ext cx="8465176" cy="4680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"/>
          <p:cNvSpPr txBox="1"/>
          <p:nvPr/>
        </p:nvSpPr>
        <p:spPr>
          <a:xfrm>
            <a:off x="1578858" y="3408141"/>
            <a:ext cx="864647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DataStreamCLI refers to the software chain that builds and validates NextGen input packages (ngen-run/), executes NextGen through NextGen In A Box (NGIAB), and versions the entire run for reproducibility. </a:t>
            </a:r>
            <a:endParaRPr/>
          </a:p>
        </p:txBody>
      </p:sp>
      <p:grpSp>
        <p:nvGrpSpPr>
          <p:cNvPr id="280" name="Google Shape;280;p8"/>
          <p:cNvGrpSpPr/>
          <p:nvPr/>
        </p:nvGrpSpPr>
        <p:grpSpPr>
          <a:xfrm>
            <a:off x="1578858" y="172316"/>
            <a:ext cx="9034284" cy="3253406"/>
            <a:chOff x="1578858" y="172316"/>
            <a:chExt cx="9034284" cy="3253406"/>
          </a:xfrm>
        </p:grpSpPr>
        <p:pic>
          <p:nvPicPr>
            <p:cNvPr descr="A diagram of a river in a box&#10;&#10;Description automatically generated" id="281" name="Google Shape;2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39023" y="172316"/>
              <a:ext cx="2449527" cy="23588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8"/>
            <p:cNvSpPr/>
            <p:nvPr/>
          </p:nvSpPr>
          <p:spPr>
            <a:xfrm>
              <a:off x="3793041" y="730065"/>
              <a:ext cx="1808966" cy="1470352"/>
            </a:xfrm>
            <a:prstGeom prst="cube">
              <a:avLst>
                <a:gd fmla="val 25000" name="adj"/>
              </a:avLst>
            </a:prstGeom>
            <a:solidFill>
              <a:srgbClr val="0B769F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1703667" y="2410231"/>
              <a:ext cx="8646476" cy="101549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0B769F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DataStreamCLI</a:t>
              </a:r>
              <a:endParaRPr/>
            </a:p>
          </p:txBody>
        </p:sp>
        <p:grpSp>
          <p:nvGrpSpPr>
            <p:cNvPr id="284" name="Google Shape;284;p8"/>
            <p:cNvGrpSpPr/>
            <p:nvPr/>
          </p:nvGrpSpPr>
          <p:grpSpPr>
            <a:xfrm>
              <a:off x="1578858" y="730065"/>
              <a:ext cx="1868541" cy="1470352"/>
              <a:chOff x="1578858" y="730065"/>
              <a:chExt cx="1868541" cy="1470352"/>
            </a:xfrm>
          </p:grpSpPr>
          <p:sp>
            <p:nvSpPr>
              <p:cNvPr id="285" name="Google Shape;285;p8"/>
              <p:cNvSpPr/>
              <p:nvPr/>
            </p:nvSpPr>
            <p:spPr>
              <a:xfrm>
                <a:off x="1638433" y="730065"/>
                <a:ext cx="1808966" cy="1470352"/>
              </a:xfrm>
              <a:prstGeom prst="cube">
                <a:avLst>
                  <a:gd fmla="val 25000" name="adj"/>
                </a:avLst>
              </a:prstGeom>
              <a:solidFill>
                <a:srgbClr val="0B769F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Prepare configuration and data inputs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8"/>
              <p:cNvSpPr txBox="1"/>
              <p:nvPr/>
            </p:nvSpPr>
            <p:spPr>
              <a:xfrm>
                <a:off x="1578858" y="1040146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sp>
          <p:nvSpPr>
            <p:cNvPr id="287" name="Google Shape;287;p8"/>
            <p:cNvSpPr txBox="1"/>
            <p:nvPr/>
          </p:nvSpPr>
          <p:spPr>
            <a:xfrm>
              <a:off x="3742557" y="104014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288" name="Google Shape;288;p8"/>
            <p:cNvSpPr txBox="1"/>
            <p:nvPr/>
          </p:nvSpPr>
          <p:spPr>
            <a:xfrm>
              <a:off x="6009007" y="5453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grpSp>
          <p:nvGrpSpPr>
            <p:cNvPr id="289" name="Google Shape;289;p8"/>
            <p:cNvGrpSpPr/>
            <p:nvPr/>
          </p:nvGrpSpPr>
          <p:grpSpPr>
            <a:xfrm>
              <a:off x="8742818" y="730065"/>
              <a:ext cx="1870324" cy="1470352"/>
              <a:chOff x="7775548" y="2110457"/>
              <a:chExt cx="1870324" cy="1470352"/>
            </a:xfrm>
          </p:grpSpPr>
          <p:sp>
            <p:nvSpPr>
              <p:cNvPr id="290" name="Google Shape;290;p8"/>
              <p:cNvSpPr/>
              <p:nvPr/>
            </p:nvSpPr>
            <p:spPr>
              <a:xfrm>
                <a:off x="7836906" y="2110457"/>
                <a:ext cx="1808966" cy="1470352"/>
              </a:xfrm>
              <a:prstGeom prst="cube">
                <a:avLst>
                  <a:gd fmla="val 25000" name="adj"/>
                </a:avLst>
              </a:prstGeom>
              <a:solidFill>
                <a:srgbClr val="0B769F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Merkle Tree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8"/>
              <p:cNvSpPr txBox="1"/>
              <p:nvPr/>
            </p:nvSpPr>
            <p:spPr>
              <a:xfrm>
                <a:off x="7775548" y="2420538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  <p:sp>
        <p:nvSpPr>
          <p:cNvPr id="292" name="Google Shape;292;p8"/>
          <p:cNvSpPr txBox="1"/>
          <p:nvPr/>
        </p:nvSpPr>
        <p:spPr>
          <a:xfrm>
            <a:off x="1578858" y="4733770"/>
            <a:ext cx="65308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enforces a standard folder (ngen-run/), which enables interoperability and reproducibility. </a:t>
            </a:r>
            <a:endParaRPr/>
          </a:p>
        </p:txBody>
      </p:sp>
      <p:pic>
        <p:nvPicPr>
          <p:cNvPr id="293" name="Google Shape;2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2818" y="4721450"/>
            <a:ext cx="3097769" cy="151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8"/>
          <p:cNvSpPr txBox="1"/>
          <p:nvPr/>
        </p:nvSpPr>
        <p:spPr>
          <a:xfrm>
            <a:off x="8742818" y="4354560"/>
            <a:ext cx="1159228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ngen-run/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9"/>
          <p:cNvGrpSpPr/>
          <p:nvPr/>
        </p:nvGrpSpPr>
        <p:grpSpPr>
          <a:xfrm>
            <a:off x="232914" y="730065"/>
            <a:ext cx="8645340" cy="4788627"/>
            <a:chOff x="232914" y="730065"/>
            <a:chExt cx="8645340" cy="4788627"/>
          </a:xfrm>
        </p:grpSpPr>
        <p:sp>
          <p:nvSpPr>
            <p:cNvPr id="301" name="Google Shape;301;p9"/>
            <p:cNvSpPr/>
            <p:nvPr/>
          </p:nvSpPr>
          <p:spPr>
            <a:xfrm>
              <a:off x="863832" y="2751082"/>
              <a:ext cx="1952136" cy="1470352"/>
            </a:xfrm>
            <a:prstGeom prst="cube">
              <a:avLst>
                <a:gd fmla="val 25000" name="adj"/>
              </a:avLst>
            </a:prstGeom>
            <a:solidFill>
              <a:srgbClr val="0B769F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LynkerSpatial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Hydrofabric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9"/>
            <p:cNvSpPr txBox="1"/>
            <p:nvPr/>
          </p:nvSpPr>
          <p:spPr>
            <a:xfrm>
              <a:off x="760776" y="4358827"/>
              <a:ext cx="19521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Defines spatial domain</a:t>
              </a: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2888156" y="2722332"/>
              <a:ext cx="1952138" cy="1470352"/>
            </a:xfrm>
            <a:prstGeom prst="cube">
              <a:avLst>
                <a:gd fmla="val 25000" name="adj"/>
              </a:avLst>
            </a:prstGeom>
            <a:solidFill>
              <a:srgbClr val="0B769F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Weights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9"/>
            <p:cNvSpPr txBox="1"/>
            <p:nvPr/>
          </p:nvSpPr>
          <p:spPr>
            <a:xfrm>
              <a:off x="2728859" y="4349141"/>
              <a:ext cx="2093345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Indices and coverage used to extract catchment averaged forcings. Calculated by exactextract.</a:t>
              </a: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4896814" y="2693824"/>
              <a:ext cx="1952139" cy="1470352"/>
            </a:xfrm>
            <a:prstGeom prst="cube">
              <a:avLst>
                <a:gd fmla="val 25000" name="adj"/>
              </a:avLst>
            </a:prstGeom>
            <a:solidFill>
              <a:srgbClr val="0B769F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Forcings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6926115" y="2693824"/>
              <a:ext cx="1952139" cy="1470352"/>
            </a:xfrm>
            <a:prstGeom prst="cube">
              <a:avLst>
                <a:gd fmla="val 25000" name="adj"/>
              </a:avLst>
            </a:prstGeom>
            <a:solidFill>
              <a:srgbClr val="0B769F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NEXTGEN BMI model configuration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9"/>
            <p:cNvSpPr txBox="1"/>
            <p:nvPr/>
          </p:nvSpPr>
          <p:spPr>
            <a:xfrm>
              <a:off x="4870299" y="4314715"/>
              <a:ext cx="2119858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Performs conversion between National Water Model and NextGen forcings formats</a:t>
              </a:r>
              <a:endParaRPr/>
            </a:p>
          </p:txBody>
        </p:sp>
        <p:sp>
          <p:nvSpPr>
            <p:cNvPr id="308" name="Google Shape;308;p9"/>
            <p:cNvSpPr txBox="1"/>
            <p:nvPr/>
          </p:nvSpPr>
          <p:spPr>
            <a:xfrm>
              <a:off x="6848952" y="4306169"/>
              <a:ext cx="202930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Required files for NextGen BMI modules</a:t>
              </a:r>
              <a:endParaRPr/>
            </a:p>
          </p:txBody>
        </p:sp>
        <p:sp>
          <p:nvSpPr>
            <p:cNvPr id="309" name="Google Shape;309;p9"/>
            <p:cNvSpPr txBox="1"/>
            <p:nvPr/>
          </p:nvSpPr>
          <p:spPr>
            <a:xfrm>
              <a:off x="991020" y="2806697"/>
              <a:ext cx="554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</a:t>
              </a:r>
              <a:endParaRPr/>
            </a:p>
          </p:txBody>
        </p:sp>
        <p:sp>
          <p:nvSpPr>
            <p:cNvPr id="310" name="Google Shape;310;p9"/>
            <p:cNvSpPr txBox="1"/>
            <p:nvPr/>
          </p:nvSpPr>
          <p:spPr>
            <a:xfrm>
              <a:off x="3031376" y="2772193"/>
              <a:ext cx="65986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CALC</a:t>
              </a:r>
              <a:endParaRPr/>
            </a:p>
          </p:txBody>
        </p:sp>
        <p:sp>
          <p:nvSpPr>
            <p:cNvPr id="311" name="Google Shape;311;p9"/>
            <p:cNvSpPr txBox="1"/>
            <p:nvPr/>
          </p:nvSpPr>
          <p:spPr>
            <a:xfrm>
              <a:off x="4995875" y="2758606"/>
              <a:ext cx="65986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CALC</a:t>
              </a:r>
              <a:endParaRPr/>
            </a:p>
          </p:txBody>
        </p:sp>
        <p:sp>
          <p:nvSpPr>
            <p:cNvPr id="312" name="Google Shape;312;p9"/>
            <p:cNvSpPr txBox="1"/>
            <p:nvPr/>
          </p:nvSpPr>
          <p:spPr>
            <a:xfrm>
              <a:off x="7076858" y="2772193"/>
              <a:ext cx="65986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CALC</a:t>
              </a:r>
              <a:endParaRPr/>
            </a:p>
          </p:txBody>
        </p:sp>
        <p:grpSp>
          <p:nvGrpSpPr>
            <p:cNvPr id="313" name="Google Shape;313;p9"/>
            <p:cNvGrpSpPr/>
            <p:nvPr/>
          </p:nvGrpSpPr>
          <p:grpSpPr>
            <a:xfrm>
              <a:off x="1578858" y="730065"/>
              <a:ext cx="1868541" cy="1470352"/>
              <a:chOff x="1578858" y="730065"/>
              <a:chExt cx="1868541" cy="1470352"/>
            </a:xfrm>
          </p:grpSpPr>
          <p:sp>
            <p:nvSpPr>
              <p:cNvPr id="314" name="Google Shape;314;p9"/>
              <p:cNvSpPr/>
              <p:nvPr/>
            </p:nvSpPr>
            <p:spPr>
              <a:xfrm>
                <a:off x="1638433" y="730065"/>
                <a:ext cx="1808966" cy="1470352"/>
              </a:xfrm>
              <a:prstGeom prst="cube">
                <a:avLst>
                  <a:gd fmla="val 25000" name="adj"/>
                </a:avLst>
              </a:prstGeom>
              <a:solidFill>
                <a:srgbClr val="0B769F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Prepare configuration and data inputs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9"/>
              <p:cNvSpPr txBox="1"/>
              <p:nvPr/>
            </p:nvSpPr>
            <p:spPr>
              <a:xfrm>
                <a:off x="1578858" y="1040146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cxnSp>
          <p:nvCxnSpPr>
            <p:cNvPr id="316" name="Google Shape;316;p9"/>
            <p:cNvCxnSpPr/>
            <p:nvPr/>
          </p:nvCxnSpPr>
          <p:spPr>
            <a:xfrm>
              <a:off x="232914" y="3571336"/>
              <a:ext cx="424593" cy="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17" name="Google Shape;317;p9"/>
            <p:cNvCxnSpPr/>
            <p:nvPr/>
          </p:nvCxnSpPr>
          <p:spPr>
            <a:xfrm>
              <a:off x="232914" y="1631662"/>
              <a:ext cx="0" cy="1929525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" name="Google Shape;318;p9"/>
            <p:cNvCxnSpPr/>
            <p:nvPr/>
          </p:nvCxnSpPr>
          <p:spPr>
            <a:xfrm rot="10800000">
              <a:off x="232914" y="1631662"/>
              <a:ext cx="1178317" cy="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319" name="Google Shape;3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2818" y="4721450"/>
            <a:ext cx="3097769" cy="151875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9"/>
          <p:cNvSpPr txBox="1"/>
          <p:nvPr/>
        </p:nvSpPr>
        <p:spPr>
          <a:xfrm>
            <a:off x="4751410" y="287800"/>
            <a:ext cx="7028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steps to build </a:t>
            </a:r>
            <a:r>
              <a:rPr lang="en-US" sz="2000">
                <a:solidFill>
                  <a:schemeClr val="dk1"/>
                </a:solidFill>
                <a:highlight>
                  <a:srgbClr val="808080"/>
                </a:highlight>
                <a:latin typeface="Arial"/>
                <a:ea typeface="Arial"/>
                <a:cs typeface="Arial"/>
                <a:sym typeface="Arial"/>
              </a:rPr>
              <a:t>ngen-run/config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000">
                <a:solidFill>
                  <a:schemeClr val="dk1"/>
                </a:solidFill>
                <a:highlight>
                  <a:srgbClr val="808080"/>
                </a:highlight>
                <a:latin typeface="Arial"/>
                <a:ea typeface="Arial"/>
                <a:cs typeface="Arial"/>
                <a:sym typeface="Arial"/>
              </a:rPr>
              <a:t>ngen-run/forcings</a:t>
            </a:r>
            <a:endParaRPr/>
          </a:p>
        </p:txBody>
      </p:sp>
      <p:pic>
        <p:nvPicPr>
          <p:cNvPr id="321" name="Google Shape;32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8742818" y="4354560"/>
            <a:ext cx="1159228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ngen-run/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" name="Google Shape;323;p9"/>
          <p:cNvCxnSpPr>
            <a:stCxn id="324" idx="2"/>
          </p:cNvCxnSpPr>
          <p:nvPr/>
        </p:nvCxnSpPr>
        <p:spPr>
          <a:xfrm flipH="1">
            <a:off x="6095958" y="2254391"/>
            <a:ext cx="142500" cy="576600"/>
          </a:xfrm>
          <a:prstGeom prst="straightConnector1">
            <a:avLst/>
          </a:prstGeom>
          <a:noFill/>
          <a:ln cap="flat" cmpd="sng" w="76200">
            <a:solidFill>
              <a:srgbClr val="92D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4" name="Google Shape;324;p9"/>
          <p:cNvSpPr/>
          <p:nvPr/>
        </p:nvSpPr>
        <p:spPr>
          <a:xfrm>
            <a:off x="4890785" y="1040146"/>
            <a:ext cx="2695346" cy="1214245"/>
          </a:xfrm>
          <a:prstGeom prst="rect">
            <a:avLst/>
          </a:prstGeom>
          <a:solidFill>
            <a:srgbClr val="92D05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These are provided by forcingprocessor, a modular and separate project at AWI.</a:t>
            </a:r>
            <a:endParaRPr/>
          </a:p>
        </p:txBody>
      </p:sp>
      <p:cxnSp>
        <p:nvCxnSpPr>
          <p:cNvPr id="325" name="Google Shape;325;p9"/>
          <p:cNvCxnSpPr>
            <a:stCxn id="324" idx="2"/>
          </p:cNvCxnSpPr>
          <p:nvPr/>
        </p:nvCxnSpPr>
        <p:spPr>
          <a:xfrm flipH="1">
            <a:off x="4014258" y="2254391"/>
            <a:ext cx="2224200" cy="561600"/>
          </a:xfrm>
          <a:prstGeom prst="straightConnector1">
            <a:avLst/>
          </a:prstGeom>
          <a:noFill/>
          <a:ln cap="flat" cmpd="sng" w="76200">
            <a:solidFill>
              <a:srgbClr val="92D05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 screen&#10;&#10;Description automatically generated" id="330" name="Google Shape;330;p11"/>
          <p:cNvPicPr preferRelativeResize="0"/>
          <p:nvPr/>
        </p:nvPicPr>
        <p:blipFill rotWithShape="1">
          <a:blip r:embed="rId3">
            <a:alphaModFix/>
          </a:blip>
          <a:srcRect b="8301" l="11242" r="8481" t="0"/>
          <a:stretch/>
        </p:blipFill>
        <p:spPr>
          <a:xfrm>
            <a:off x="6990158" y="719367"/>
            <a:ext cx="5151324" cy="588424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/>
          <p:nvPr/>
        </p:nvSpPr>
        <p:spPr>
          <a:xfrm>
            <a:off x="863832" y="2751082"/>
            <a:ext cx="1952136" cy="1470352"/>
          </a:xfrm>
          <a:prstGeom prst="cube">
            <a:avLst>
              <a:gd fmla="val 25000" name="adj"/>
            </a:avLst>
          </a:prstGeom>
          <a:solidFill>
            <a:srgbClr val="0B769F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Hydrofabric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760776" y="4358827"/>
            <a:ext cx="19521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 spatial domain</a:t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2888156" y="2722332"/>
            <a:ext cx="1952138" cy="1470352"/>
          </a:xfrm>
          <a:prstGeom prst="cube">
            <a:avLst>
              <a:gd fmla="val 25000" name="adj"/>
            </a:avLst>
          </a:prstGeom>
          <a:solidFill>
            <a:srgbClr val="0B769F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2728859" y="4349141"/>
            <a:ext cx="209334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Indices and coverage used to extract catchment averaged forcings</a:t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4896814" y="2693824"/>
            <a:ext cx="1952139" cy="1470352"/>
          </a:xfrm>
          <a:prstGeom prst="cube">
            <a:avLst>
              <a:gd fmla="val 25000" name="adj"/>
            </a:avLst>
          </a:prstGeom>
          <a:solidFill>
            <a:srgbClr val="0B769F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Forcings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 txBox="1"/>
          <p:nvPr/>
        </p:nvSpPr>
        <p:spPr>
          <a:xfrm>
            <a:off x="4870299" y="4314715"/>
            <a:ext cx="211985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Performs conversion between National Water Model and NextGen forcings formats</a:t>
            </a:r>
            <a:endParaRPr/>
          </a:p>
        </p:txBody>
      </p:sp>
      <p:sp>
        <p:nvSpPr>
          <p:cNvPr id="337" name="Google Shape;337;p11"/>
          <p:cNvSpPr txBox="1"/>
          <p:nvPr/>
        </p:nvSpPr>
        <p:spPr>
          <a:xfrm>
            <a:off x="991027" y="2806700"/>
            <a:ext cx="73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/>
          </a:p>
        </p:txBody>
      </p:sp>
      <p:sp>
        <p:nvSpPr>
          <p:cNvPr id="338" name="Google Shape;338;p11"/>
          <p:cNvSpPr txBox="1"/>
          <p:nvPr/>
        </p:nvSpPr>
        <p:spPr>
          <a:xfrm>
            <a:off x="3031375" y="2772200"/>
            <a:ext cx="101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CALC</a:t>
            </a:r>
            <a:endParaRPr/>
          </a:p>
        </p:txBody>
      </p:sp>
      <p:sp>
        <p:nvSpPr>
          <p:cNvPr id="339" name="Google Shape;339;p11"/>
          <p:cNvSpPr txBox="1"/>
          <p:nvPr/>
        </p:nvSpPr>
        <p:spPr>
          <a:xfrm>
            <a:off x="4995875" y="2758600"/>
            <a:ext cx="122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CALC</a:t>
            </a:r>
            <a:endParaRPr/>
          </a:p>
        </p:txBody>
      </p:sp>
      <p:grpSp>
        <p:nvGrpSpPr>
          <p:cNvPr id="340" name="Google Shape;340;p11"/>
          <p:cNvGrpSpPr/>
          <p:nvPr/>
        </p:nvGrpSpPr>
        <p:grpSpPr>
          <a:xfrm>
            <a:off x="1578858" y="730065"/>
            <a:ext cx="1868541" cy="1470352"/>
            <a:chOff x="1578858" y="730065"/>
            <a:chExt cx="1868541" cy="1470352"/>
          </a:xfrm>
        </p:grpSpPr>
        <p:sp>
          <p:nvSpPr>
            <p:cNvPr id="341" name="Google Shape;341;p11"/>
            <p:cNvSpPr/>
            <p:nvPr/>
          </p:nvSpPr>
          <p:spPr>
            <a:xfrm>
              <a:off x="1638433" y="730065"/>
              <a:ext cx="1808966" cy="1470352"/>
            </a:xfrm>
            <a:prstGeom prst="cube">
              <a:avLst>
                <a:gd fmla="val 25000" name="adj"/>
              </a:avLst>
            </a:prstGeom>
            <a:solidFill>
              <a:srgbClr val="0B769F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 configuration and data inputs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1"/>
            <p:cNvSpPr txBox="1"/>
            <p:nvPr/>
          </p:nvSpPr>
          <p:spPr>
            <a:xfrm>
              <a:off x="1578858" y="104014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cxnSp>
        <p:nvCxnSpPr>
          <p:cNvPr id="343" name="Google Shape;343;p11"/>
          <p:cNvCxnSpPr/>
          <p:nvPr/>
        </p:nvCxnSpPr>
        <p:spPr>
          <a:xfrm>
            <a:off x="232914" y="3571336"/>
            <a:ext cx="424593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" name="Google Shape;344;p11"/>
          <p:cNvCxnSpPr/>
          <p:nvPr/>
        </p:nvCxnSpPr>
        <p:spPr>
          <a:xfrm>
            <a:off x="232914" y="1631662"/>
            <a:ext cx="0" cy="1929525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5" name="Google Shape;345;p11"/>
          <p:cNvCxnSpPr/>
          <p:nvPr/>
        </p:nvCxnSpPr>
        <p:spPr>
          <a:xfrm rot="10800000">
            <a:off x="232914" y="1631662"/>
            <a:ext cx="1178317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46" name="Google Shape;34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 txBox="1"/>
          <p:nvPr/>
        </p:nvSpPr>
        <p:spPr>
          <a:xfrm>
            <a:off x="8742818" y="1040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grpSp>
        <p:nvGrpSpPr>
          <p:cNvPr id="352" name="Google Shape;352;p12"/>
          <p:cNvGrpSpPr/>
          <p:nvPr/>
        </p:nvGrpSpPr>
        <p:grpSpPr>
          <a:xfrm>
            <a:off x="8742818" y="730065"/>
            <a:ext cx="1870324" cy="1470352"/>
            <a:chOff x="7775548" y="2110457"/>
            <a:chExt cx="1870324" cy="1470352"/>
          </a:xfrm>
        </p:grpSpPr>
        <p:sp>
          <p:nvSpPr>
            <p:cNvPr id="353" name="Google Shape;353;p12"/>
            <p:cNvSpPr/>
            <p:nvPr/>
          </p:nvSpPr>
          <p:spPr>
            <a:xfrm>
              <a:off x="7836906" y="2110457"/>
              <a:ext cx="1808966" cy="1470352"/>
            </a:xfrm>
            <a:prstGeom prst="cube">
              <a:avLst>
                <a:gd fmla="val 25000" name="adj"/>
              </a:avLst>
            </a:prstGeom>
            <a:solidFill>
              <a:srgbClr val="0B769F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Versioning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2"/>
            <p:cNvSpPr txBox="1"/>
            <p:nvPr/>
          </p:nvSpPr>
          <p:spPr>
            <a:xfrm>
              <a:off x="7775548" y="242053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355" name="Google Shape;355;p12"/>
          <p:cNvSpPr txBox="1"/>
          <p:nvPr/>
        </p:nvSpPr>
        <p:spPr>
          <a:xfrm>
            <a:off x="426017" y="973785"/>
            <a:ext cx="7517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Merkle Tree based hashing algorithm	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“Root” hash allows for quickly identifying if two ngen-run directories are different.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Ability to query whether some file is a part of the tree represented by the root hash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Ability to compare many files without opening them</a:t>
            </a:r>
            <a:endParaRPr/>
          </a:p>
        </p:txBody>
      </p:sp>
      <p:pic>
        <p:nvPicPr>
          <p:cNvPr descr="A screen shot of a computer&#10;&#10;Description automatically generated" id="356" name="Google Shape;3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926" y="2850092"/>
            <a:ext cx="9046664" cy="115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2818" y="4721450"/>
            <a:ext cx="3097769" cy="1518751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2"/>
          <p:cNvSpPr txBox="1"/>
          <p:nvPr/>
        </p:nvSpPr>
        <p:spPr>
          <a:xfrm>
            <a:off x="8742818" y="4354560"/>
            <a:ext cx="1159228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ngen-run/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"/>
          <p:cNvSpPr txBox="1"/>
          <p:nvPr/>
        </p:nvSpPr>
        <p:spPr>
          <a:xfrm>
            <a:off x="1578858" y="3408141"/>
            <a:ext cx="864647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DataStreamCLI refers to the software chain that builds and validates NextGen input packages (ngen-run/), executes NextGen through NextGen In A Box (NGIAB), and versions the entire run for reproducibility. </a:t>
            </a:r>
            <a:endParaRPr/>
          </a:p>
        </p:txBody>
      </p:sp>
      <p:grpSp>
        <p:nvGrpSpPr>
          <p:cNvPr id="365" name="Google Shape;365;p13"/>
          <p:cNvGrpSpPr/>
          <p:nvPr/>
        </p:nvGrpSpPr>
        <p:grpSpPr>
          <a:xfrm>
            <a:off x="1578858" y="172316"/>
            <a:ext cx="9034284" cy="3253406"/>
            <a:chOff x="1578858" y="172316"/>
            <a:chExt cx="9034284" cy="3253406"/>
          </a:xfrm>
        </p:grpSpPr>
        <p:pic>
          <p:nvPicPr>
            <p:cNvPr descr="A diagram of a river in a box&#10;&#10;Description automatically generated" id="366" name="Google Shape;36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39023" y="172316"/>
              <a:ext cx="2449527" cy="23588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13"/>
            <p:cNvSpPr/>
            <p:nvPr/>
          </p:nvSpPr>
          <p:spPr>
            <a:xfrm>
              <a:off x="3793041" y="730065"/>
              <a:ext cx="1808966" cy="1470352"/>
            </a:xfrm>
            <a:prstGeom prst="cube">
              <a:avLst>
                <a:gd fmla="val 25000" name="adj"/>
              </a:avLst>
            </a:prstGeom>
            <a:solidFill>
              <a:srgbClr val="0B769F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1703667" y="2410231"/>
              <a:ext cx="8646476" cy="101549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0B769F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DataStreamCLI</a:t>
              </a:r>
              <a:endParaRPr/>
            </a:p>
          </p:txBody>
        </p:sp>
        <p:grpSp>
          <p:nvGrpSpPr>
            <p:cNvPr id="369" name="Google Shape;369;p13"/>
            <p:cNvGrpSpPr/>
            <p:nvPr/>
          </p:nvGrpSpPr>
          <p:grpSpPr>
            <a:xfrm>
              <a:off x="1578858" y="730065"/>
              <a:ext cx="1868541" cy="1470352"/>
              <a:chOff x="1578858" y="730065"/>
              <a:chExt cx="1868541" cy="1470352"/>
            </a:xfrm>
          </p:grpSpPr>
          <p:sp>
            <p:nvSpPr>
              <p:cNvPr id="370" name="Google Shape;370;p13"/>
              <p:cNvSpPr/>
              <p:nvPr/>
            </p:nvSpPr>
            <p:spPr>
              <a:xfrm>
                <a:off x="1638433" y="730065"/>
                <a:ext cx="1808966" cy="1470352"/>
              </a:xfrm>
              <a:prstGeom prst="cube">
                <a:avLst>
                  <a:gd fmla="val 25000" name="adj"/>
                </a:avLst>
              </a:prstGeom>
              <a:solidFill>
                <a:srgbClr val="0B769F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Prepare configuration and data inputs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3"/>
              <p:cNvSpPr txBox="1"/>
              <p:nvPr/>
            </p:nvSpPr>
            <p:spPr>
              <a:xfrm>
                <a:off x="1578858" y="1040146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sp>
          <p:nvSpPr>
            <p:cNvPr id="372" name="Google Shape;372;p13"/>
            <p:cNvSpPr txBox="1"/>
            <p:nvPr/>
          </p:nvSpPr>
          <p:spPr>
            <a:xfrm>
              <a:off x="3742557" y="104014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373" name="Google Shape;373;p13"/>
            <p:cNvSpPr txBox="1"/>
            <p:nvPr/>
          </p:nvSpPr>
          <p:spPr>
            <a:xfrm>
              <a:off x="6009007" y="5453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grpSp>
          <p:nvGrpSpPr>
            <p:cNvPr id="374" name="Google Shape;374;p13"/>
            <p:cNvGrpSpPr/>
            <p:nvPr/>
          </p:nvGrpSpPr>
          <p:grpSpPr>
            <a:xfrm>
              <a:off x="8742818" y="730065"/>
              <a:ext cx="1870324" cy="1470352"/>
              <a:chOff x="7775548" y="2110457"/>
              <a:chExt cx="1870324" cy="1470352"/>
            </a:xfrm>
          </p:grpSpPr>
          <p:sp>
            <p:nvSpPr>
              <p:cNvPr id="375" name="Google Shape;375;p13"/>
              <p:cNvSpPr/>
              <p:nvPr/>
            </p:nvSpPr>
            <p:spPr>
              <a:xfrm>
                <a:off x="7836906" y="2110457"/>
                <a:ext cx="1808966" cy="1470352"/>
              </a:xfrm>
              <a:prstGeom prst="cube">
                <a:avLst>
                  <a:gd fmla="val 25000" name="adj"/>
                </a:avLst>
              </a:prstGeom>
              <a:solidFill>
                <a:srgbClr val="0B769F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Merkle Tree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13"/>
              <p:cNvSpPr txBox="1"/>
              <p:nvPr/>
            </p:nvSpPr>
            <p:spPr>
              <a:xfrm>
                <a:off x="7775548" y="2420538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  <p:sp>
        <p:nvSpPr>
          <p:cNvPr id="377" name="Google Shape;377;p13"/>
          <p:cNvSpPr txBox="1"/>
          <p:nvPr/>
        </p:nvSpPr>
        <p:spPr>
          <a:xfrm>
            <a:off x="1578858" y="4733770"/>
            <a:ext cx="65308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enforces a standard folder (ngen-run/), which enables interoperability and reproducibility. </a:t>
            </a:r>
            <a:endParaRPr/>
          </a:p>
        </p:txBody>
      </p:sp>
      <p:pic>
        <p:nvPicPr>
          <p:cNvPr id="378" name="Google Shape;37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2818" y="4721450"/>
            <a:ext cx="3097769" cy="151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3"/>
          <p:cNvSpPr txBox="1"/>
          <p:nvPr/>
        </p:nvSpPr>
        <p:spPr>
          <a:xfrm>
            <a:off x="8742818" y="4354560"/>
            <a:ext cx="1159228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ngen-run/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river running through a valley&#10;&#10;AI-generated content may be incorrect." id="387" name="Google Shape;3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4" y="0"/>
            <a:ext cx="12214604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4"/>
          <p:cNvSpPr/>
          <p:nvPr/>
        </p:nvSpPr>
        <p:spPr>
          <a:xfrm>
            <a:off x="3962400" y="-1272567"/>
            <a:ext cx="9912350" cy="9395196"/>
          </a:xfrm>
          <a:prstGeom prst="ellipse">
            <a:avLst/>
          </a:prstGeom>
          <a:solidFill>
            <a:srgbClr val="AEAEA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3C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 txBox="1"/>
          <p:nvPr/>
        </p:nvSpPr>
        <p:spPr>
          <a:xfrm>
            <a:off x="736600" y="609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0" y="6530367"/>
            <a:ext cx="195277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56565"/>
                </a:solidFill>
                <a:latin typeface="Heebo"/>
                <a:ea typeface="Heebo"/>
                <a:cs typeface="Heebo"/>
                <a:sym typeface="Heebo"/>
              </a:rPr>
              <a:t>Colorado River District/Courtesy photo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 txBox="1"/>
          <p:nvPr/>
        </p:nvSpPr>
        <p:spPr>
          <a:xfrm>
            <a:off x="5834247" y="394157"/>
            <a:ext cx="69988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/>
          </a:p>
        </p:txBody>
      </p:sp>
      <p:pic>
        <p:nvPicPr>
          <p:cNvPr id="392" name="Google Shape;3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26" y="5653512"/>
            <a:ext cx="4121253" cy="93886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4"/>
          <p:cNvSpPr txBox="1"/>
          <p:nvPr/>
        </p:nvSpPr>
        <p:spPr>
          <a:xfrm>
            <a:off x="4717036" y="2066833"/>
            <a:ext cx="703300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 community contribution workflow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 for DataStreamCLI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Stay up-to-date with hydrofabric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2025-04-10T14:43:46Z</dcterms:created>
  <dc:creator>Jordan Laser</dc:creator>
</cp:coreProperties>
</file>